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media/image1.jpeg" ContentType="image/jpeg"/>
  <Override PartName="/ppt/theme/theme2.xml" ContentType="application/vnd.openxmlformats-officedocument.theme+xml"/>
  <Override PartName="/ppt/media/image2.jpe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media/image3.jpeg" ContentType="image/jpeg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media/image4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3" name="Shape 43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7" name="Shape 5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Introduce the project: an automated collegiate event scheduling engine powered by backtracking, developed as an algorithm and systems hackathon project with a live web demo.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6" name="Shape 8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Frame the problem: multiple campus events and constrained physical facilities inevitably lead to resource overlap when organized by hand. The algorithm automates clash-free resolution.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9" name="Shape 10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Walk through the four hard constraints: matching room venue category, non-overlapping hourly occupancy, equipment ceiling adherence, and containment within strict operating windows.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hape 12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5" name="Shape 12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Explain the backtracking search procedure: decision formulation, recursive exploration with validation, the MRV heuristic ordering, and graceful partial fallback when constraints cannot be universally satisfied.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14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5" name="Shape 14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Discuss theoretical versus empirical performance: exponential theoretical bound tempered by massive constraint pruning and MRV branch reordering, using O(n) call-stack memory.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15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9" name="Shape 15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Conclude with the guarantees provided by backtracking search and outline next steps: multi-day scaling, weighted priorities, branch-and-bound optimization, and document exports.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master 1">
    <p:bg>
      <p:bgPr>
        <a:solidFill>
          <a:srgbClr val="E9E4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9" name="Image 1" descr="Image 1">
            <a:hlinkClick r:id="rId3" invalidUrl="" action="" tgtFrame="" tooltip="" history="1" highlightClick="0" endSnd="0"/>
          </p:cNvPr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076875" y="6558991"/>
            <a:ext cx="1071844" cy="256033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master 2">
    <p:bg>
      <p:bgPr>
        <a:solidFill>
          <a:srgbClr val="E9E4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age 0" descr="Image 0">
            <a:hlinkClick r:id="rId2" invalidUrl="" action="" tgtFrame="" tooltip="" history="1" highlightClick="0" endSnd="0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076875" y="6558991"/>
            <a:ext cx="1071844" cy="256033"/>
          </a:xfrm>
          <a:prstGeom prst="rect">
            <a:avLst/>
          </a:prstGeom>
          <a:ln w="12700">
            <a:miter lim="400000"/>
          </a:ln>
        </p:spPr>
      </p:pic>
      <p:sp>
        <p:nvSpPr>
          <p:cNvPr id="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master 3">
    <p:bg>
      <p:bgPr>
        <a:solidFill>
          <a:srgbClr val="1F2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Image 0" descr="Image 0">
            <a:hlinkClick r:id="rId2" invalidUrl="" action="" tgtFrame="" tooltip="" history="1" highlightClick="0" endSnd="0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076875" y="6558991"/>
            <a:ext cx="1071844" cy="256033"/>
          </a:xfrm>
          <a:prstGeom prst="rect">
            <a:avLst/>
          </a:prstGeom>
          <a:ln w="12700">
            <a:miter lim="400000"/>
          </a:ln>
        </p:spPr>
      </p:pic>
      <p:sp>
        <p:nvSpPr>
          <p:cNvPr id="3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8965" y="92074"/>
            <a:ext cx="1096137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5886661" y="6172200"/>
            <a:ext cx="2841838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e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e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Double-click to edit"/>
          <p:cNvSpPr txBox="1"/>
          <p:nvPr>
            <p:ph type="title" idx="4294967295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46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08964" y="92074"/>
            <a:ext cx="6995308" cy="11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47" name="Topic:College Event Scheduling…"/>
          <p:cNvSpPr txBox="1"/>
          <p:nvPr>
            <p:ph type="body" idx="4294967295"/>
          </p:nvPr>
        </p:nvSpPr>
        <p:spPr>
          <a:xfrm>
            <a:off x="608965" y="2405051"/>
            <a:ext cx="10961371" cy="5257801"/>
          </a:xfrm>
          <a:prstGeom prst="rect">
            <a:avLst/>
          </a:prstGeom>
        </p:spPr>
        <p:txBody>
          <a:bodyPr/>
          <a:lstStyle/>
          <a:p>
            <a:pPr marL="0" indent="0" algn="ctr">
              <a:spcBef>
                <a:spcPts val="0"/>
              </a:spcBef>
              <a:buSzTx/>
              <a:buFontTx/>
              <a:buNone/>
              <a:defRPr sz="4500">
                <a:latin typeface="Calibri Light"/>
                <a:ea typeface="Calibri Light"/>
                <a:cs typeface="Calibri Light"/>
                <a:sym typeface="Calibri Light"/>
              </a:defRPr>
            </a:pPr>
            <a:r>
              <a:t>Topic:College Event Scheduling</a:t>
            </a:r>
          </a:p>
          <a:p>
            <a:pPr marL="0" indent="0" algn="ctr">
              <a:spcBef>
                <a:spcPts val="0"/>
              </a:spcBef>
              <a:buSzTx/>
              <a:buFontTx/>
              <a:buNone/>
              <a:defRPr sz="3900">
                <a:latin typeface="Calibri Light"/>
                <a:ea typeface="Calibri Light"/>
                <a:cs typeface="Calibri Light"/>
                <a:sym typeface="Calibri Light"/>
              </a:defRPr>
            </a:pPr>
          </a:p>
          <a:p>
            <a:pPr marL="0" indent="0">
              <a:spcBef>
                <a:spcPts val="0"/>
              </a:spcBef>
              <a:buSzTx/>
              <a:buFontTx/>
              <a:buNone/>
              <a:defRPr sz="3900">
                <a:latin typeface="Calibri Light"/>
                <a:ea typeface="Calibri Light"/>
                <a:cs typeface="Calibri Light"/>
                <a:sym typeface="Calibri Light"/>
              </a:defRPr>
            </a:pPr>
            <a:r>
              <a:t>                             Team Members:</a:t>
            </a:r>
          </a:p>
          <a:p>
            <a:pPr marL="0" indent="0">
              <a:spcBef>
                <a:spcPts val="0"/>
              </a:spcBef>
              <a:buSzTx/>
              <a:buFontTx/>
              <a:buNone/>
              <a:defRPr sz="1800"/>
            </a:pPr>
            <a:r>
              <a:t>                                                                                  A.Siddu(25MVCSDR0002)</a:t>
            </a:r>
          </a:p>
          <a:p>
            <a:pPr marL="0" indent="0" algn="ctr">
              <a:spcBef>
                <a:spcPts val="0"/>
              </a:spcBef>
              <a:buSzTx/>
              <a:buFontTx/>
              <a:buNone/>
              <a:defRPr sz="1800"/>
            </a:pPr>
            <a:r>
              <a:t>       K.Chaithra(25MVCSDR0036)</a:t>
            </a:r>
          </a:p>
          <a:p>
            <a:pPr marL="0" indent="0" algn="ctr">
              <a:spcBef>
                <a:spcPts val="0"/>
              </a:spcBef>
              <a:buSzTx/>
              <a:buFontTx/>
              <a:buNone/>
              <a:defRPr sz="1800"/>
            </a:pPr>
            <a:r>
              <a:t>        M.Hareesh(25MVCSDR0045)</a:t>
            </a:r>
          </a:p>
          <a:p>
            <a:pPr marL="0" indent="0" algn="ctr">
              <a:spcBef>
                <a:spcPts val="0"/>
              </a:spcBef>
              <a:buSzTx/>
              <a:buFontTx/>
              <a:buNone/>
              <a:defRPr sz="1800"/>
            </a:pPr>
            <a:r>
              <a:t>                 R.Siri Chandana(25MVCSDR0071)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0"/>
          <p:cNvSpPr/>
          <p:nvPr/>
        </p:nvSpPr>
        <p:spPr>
          <a:xfrm>
            <a:off x="-1" y="6248400"/>
            <a:ext cx="12191697" cy="609600"/>
          </a:xfrm>
          <a:prstGeom prst="rect">
            <a:avLst/>
          </a:prstGeom>
          <a:solidFill>
            <a:srgbClr val="1F2F5C"/>
          </a:solidFill>
          <a:ln w="12700">
            <a:miter lim="400000"/>
          </a:ln>
          <a:effectLst>
            <a:outerShdw sx="100000" sy="100000" kx="0" ky="0" algn="b" rotWithShape="0" blurRad="0" dist="24130" dir="5400000">
              <a:srgbClr val="C9A227"/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0" name="Text 1"/>
          <p:cNvSpPr txBox="1"/>
          <p:nvPr/>
        </p:nvSpPr>
        <p:spPr>
          <a:xfrm>
            <a:off x="11454717" y="6476999"/>
            <a:ext cx="15396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lnSpc>
                <a:spcPct val="125000"/>
              </a:lnSpc>
              <a:defRPr sz="10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51" name="Shape 2"/>
          <p:cNvSpPr/>
          <p:nvPr/>
        </p:nvSpPr>
        <p:spPr>
          <a:xfrm>
            <a:off x="761980" y="3098800"/>
            <a:ext cx="10667734" cy="31496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594" y="0"/>
                </a:lnTo>
                <a:lnTo>
                  <a:pt x="20006" y="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E9E4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2" name="Text 3"/>
          <p:cNvSpPr txBox="1"/>
          <p:nvPr/>
        </p:nvSpPr>
        <p:spPr>
          <a:xfrm>
            <a:off x="1574761" y="3302000"/>
            <a:ext cx="9042174" cy="13084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 algn="ctr" defTabSz="786384">
              <a:lnSpc>
                <a:spcPct val="77000"/>
              </a:lnSpc>
              <a:defRPr sz="4816">
                <a:solidFill>
                  <a:srgbClr val="A8402E"/>
                </a:solidFill>
                <a:latin typeface="Big Shoulders ExtraBold"/>
                <a:ea typeface="Big Shoulders ExtraBold"/>
                <a:cs typeface="Big Shoulders ExtraBold"/>
                <a:sym typeface="Big Shoulders ExtraBold"/>
              </a:defRPr>
            </a:pPr>
            <a:r>
              <a:t>COLLEGE EVENT</a:t>
            </a:r>
          </a:p>
          <a:p>
            <a:pPr algn="ctr" defTabSz="786384">
              <a:lnSpc>
                <a:spcPct val="77000"/>
              </a:lnSpc>
              <a:defRPr sz="4816">
                <a:solidFill>
                  <a:srgbClr val="1F2F5C"/>
                </a:solidFill>
                <a:latin typeface="Big Shoulders ExtraBold"/>
                <a:ea typeface="Big Shoulders ExtraBold"/>
                <a:cs typeface="Big Shoulders ExtraBold"/>
                <a:sym typeface="Big Shoulders ExtraBold"/>
              </a:defRPr>
            </a:pPr>
            <a:r>
              <a:t>SCHEDULING</a:t>
            </a:r>
          </a:p>
        </p:txBody>
      </p:sp>
      <p:sp>
        <p:nvSpPr>
          <p:cNvPr id="53" name="Text 4"/>
          <p:cNvSpPr txBox="1"/>
          <p:nvPr/>
        </p:nvSpPr>
        <p:spPr>
          <a:xfrm>
            <a:off x="3414889" y="4794646"/>
            <a:ext cx="536191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ct val="108000"/>
              </a:lnSpc>
              <a:defRPr>
                <a:solidFill>
                  <a:srgbClr val="1F2F5C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1pPr>
          </a:lstStyle>
          <a:p>
            <a:pPr/>
            <a:r>
              <a:t>using Backtracking (Design &amp; Analysis of Algorithms)</a:t>
            </a:r>
          </a:p>
        </p:txBody>
      </p:sp>
      <p:sp>
        <p:nvSpPr>
          <p:cNvPr id="54" name="Shape 5"/>
          <p:cNvSpPr/>
          <p:nvPr/>
        </p:nvSpPr>
        <p:spPr>
          <a:xfrm>
            <a:off x="4965575" y="5288657"/>
            <a:ext cx="2260445" cy="38101"/>
          </a:xfrm>
          <a:prstGeom prst="roundRect">
            <a:avLst>
              <a:gd name="adj" fmla="val 49999"/>
            </a:avLst>
          </a:prstGeom>
          <a:solidFill>
            <a:srgbClr val="C9A22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5" name="Text 6"/>
          <p:cNvSpPr txBox="1"/>
          <p:nvPr/>
        </p:nvSpPr>
        <p:spPr>
          <a:xfrm>
            <a:off x="3832965" y="5561707"/>
            <a:ext cx="4525765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25000"/>
              </a:lnSpc>
              <a:defRPr b="1" sz="1400">
                <a:solidFill>
                  <a:srgbClr val="2E3446"/>
                </a:solidFill>
                <a:latin typeface="Outfit Bold"/>
                <a:ea typeface="Outfit Bold"/>
                <a:cs typeface="Outfit Bold"/>
                <a:sym typeface="Outfit Bold"/>
              </a:defRPr>
            </a:pPr>
            <a:r>
              <a:t>Hackathon Project</a:t>
            </a:r>
            <a:r>
              <a:rPr b="0">
                <a:latin typeface="Outfit"/>
                <a:ea typeface="Outfit"/>
                <a:cs typeface="Outfit"/>
                <a:sym typeface="Outfit"/>
              </a:rPr>
              <a:t> | Live demo: CampusSched web app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 0"/>
          <p:cNvSpPr txBox="1"/>
          <p:nvPr/>
        </p:nvSpPr>
        <p:spPr>
          <a:xfrm>
            <a:off x="901677" y="457199"/>
            <a:ext cx="6138405" cy="761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3498" tIns="63498" rIns="63498" bIns="63498">
            <a:spAutoFit/>
          </a:bodyPr>
          <a:lstStyle/>
          <a:p>
            <a:pPr>
              <a:lnSpc>
                <a:spcPct val="79000"/>
              </a:lnSpc>
              <a:defRPr spc="42" sz="4200">
                <a:solidFill>
                  <a:srgbClr val="C9A227"/>
                </a:solidFill>
                <a:latin typeface="Big Shoulders ExtraBold"/>
                <a:ea typeface="Big Shoulders ExtraBold"/>
                <a:cs typeface="Big Shoulders ExtraBold"/>
                <a:sym typeface="Big Shoulders ExtraBold"/>
              </a:defRPr>
            </a:pPr>
            <a:r>
              <a:t>PROBLEM</a:t>
            </a:r>
            <a:r>
              <a:rPr>
                <a:solidFill>
                  <a:srgbClr val="E9E4D8"/>
                </a:solidFill>
              </a:rPr>
              <a:t> STATEMENT</a:t>
            </a:r>
          </a:p>
        </p:txBody>
      </p:sp>
      <p:sp>
        <p:nvSpPr>
          <p:cNvPr id="60" name="Text 1"/>
          <p:cNvSpPr txBox="1"/>
          <p:nvPr/>
        </p:nvSpPr>
        <p:spPr>
          <a:xfrm>
            <a:off x="558785" y="1294109"/>
            <a:ext cx="308113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pc="96" sz="1200">
                <a:solidFill>
                  <a:srgbClr val="A8402E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</a:lstStyle>
          <a:p>
            <a:pPr/>
            <a:r>
              <a:t>CAMPUS OPERATIONAL CHALLENGE</a:t>
            </a:r>
          </a:p>
        </p:txBody>
      </p:sp>
      <p:sp>
        <p:nvSpPr>
          <p:cNvPr id="61" name="Shape 2"/>
          <p:cNvSpPr/>
          <p:nvPr/>
        </p:nvSpPr>
        <p:spPr>
          <a:xfrm>
            <a:off x="558785" y="1788119"/>
            <a:ext cx="355594" cy="355601"/>
          </a:xfrm>
          <a:prstGeom prst="ellipse">
            <a:avLst/>
          </a:prstGeom>
          <a:solidFill>
            <a:srgbClr val="1F2F5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2" name="Text 3"/>
          <p:cNvSpPr txBox="1"/>
          <p:nvPr/>
        </p:nvSpPr>
        <p:spPr>
          <a:xfrm>
            <a:off x="699276" y="1864319"/>
            <a:ext cx="12700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83000"/>
              </a:lnSpc>
              <a:defRPr sz="1600">
                <a:solidFill>
                  <a:srgbClr val="FFFFFF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63" name="Text 4"/>
          <p:cNvSpPr txBox="1"/>
          <p:nvPr/>
        </p:nvSpPr>
        <p:spPr>
          <a:xfrm>
            <a:off x="558785" y="2226269"/>
            <a:ext cx="1601070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8000"/>
              </a:lnSpc>
              <a:defRPr>
                <a:solidFill>
                  <a:srgbClr val="1F2F5C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1pPr>
          </a:lstStyle>
          <a:p>
            <a:pPr/>
            <a:r>
              <a:t>Scale of Events</a:t>
            </a:r>
          </a:p>
        </p:txBody>
      </p:sp>
      <p:sp>
        <p:nvSpPr>
          <p:cNvPr id="64" name="Text 5"/>
          <p:cNvSpPr txBox="1"/>
          <p:nvPr/>
        </p:nvSpPr>
        <p:spPr>
          <a:xfrm>
            <a:off x="558785" y="2669480"/>
            <a:ext cx="3047926" cy="914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25000"/>
              </a:lnSpc>
              <a:defRPr sz="1600">
                <a:solidFill>
                  <a:srgbClr val="2E3446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Colleges run many events: seminars, workshops, contests, club meets</a:t>
            </a:r>
          </a:p>
        </p:txBody>
      </p:sp>
      <p:sp>
        <p:nvSpPr>
          <p:cNvPr id="65" name="Shape 6"/>
          <p:cNvSpPr/>
          <p:nvPr/>
        </p:nvSpPr>
        <p:spPr>
          <a:xfrm>
            <a:off x="3962301" y="1788119"/>
            <a:ext cx="355593" cy="355601"/>
          </a:xfrm>
          <a:prstGeom prst="ellipse">
            <a:avLst/>
          </a:prstGeom>
          <a:solidFill>
            <a:srgbClr val="1F2F5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6" name="Text 7"/>
          <p:cNvSpPr txBox="1"/>
          <p:nvPr/>
        </p:nvSpPr>
        <p:spPr>
          <a:xfrm>
            <a:off x="4083841" y="1864319"/>
            <a:ext cx="12700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83000"/>
              </a:lnSpc>
              <a:defRPr sz="1600">
                <a:solidFill>
                  <a:srgbClr val="FFFFFF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67" name="Text 8"/>
          <p:cNvSpPr txBox="1"/>
          <p:nvPr/>
        </p:nvSpPr>
        <p:spPr>
          <a:xfrm>
            <a:off x="3962301" y="2226269"/>
            <a:ext cx="152460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8000"/>
              </a:lnSpc>
              <a:defRPr>
                <a:solidFill>
                  <a:srgbClr val="1F2F5C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1pPr>
          </a:lstStyle>
          <a:p>
            <a:pPr/>
            <a:r>
              <a:t>Finite Capacity</a:t>
            </a:r>
          </a:p>
        </p:txBody>
      </p:sp>
      <p:sp>
        <p:nvSpPr>
          <p:cNvPr id="68" name="Text 9"/>
          <p:cNvSpPr txBox="1"/>
          <p:nvPr/>
        </p:nvSpPr>
        <p:spPr>
          <a:xfrm>
            <a:off x="3962301" y="2669480"/>
            <a:ext cx="3047925" cy="914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25000"/>
              </a:lnSpc>
              <a:defRPr sz="1600">
                <a:solidFill>
                  <a:srgbClr val="2E3446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Resources are limited: classrooms, seminar halls, labs, equipment</a:t>
            </a:r>
          </a:p>
        </p:txBody>
      </p:sp>
      <p:sp>
        <p:nvSpPr>
          <p:cNvPr id="69" name="Shape 10"/>
          <p:cNvSpPr/>
          <p:nvPr/>
        </p:nvSpPr>
        <p:spPr>
          <a:xfrm>
            <a:off x="558785" y="3865860"/>
            <a:ext cx="355594" cy="355601"/>
          </a:xfrm>
          <a:prstGeom prst="ellipse">
            <a:avLst/>
          </a:prstGeom>
          <a:solidFill>
            <a:srgbClr val="1F2F5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0" name="Text 11"/>
          <p:cNvSpPr txBox="1"/>
          <p:nvPr/>
        </p:nvSpPr>
        <p:spPr>
          <a:xfrm>
            <a:off x="680624" y="3942060"/>
            <a:ext cx="12700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83000"/>
              </a:lnSpc>
              <a:defRPr sz="1600">
                <a:solidFill>
                  <a:srgbClr val="FFFFFF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71" name="Text 12"/>
          <p:cNvSpPr txBox="1"/>
          <p:nvPr/>
        </p:nvSpPr>
        <p:spPr>
          <a:xfrm>
            <a:off x="558785" y="4304010"/>
            <a:ext cx="227436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8000"/>
              </a:lnSpc>
              <a:defRPr>
                <a:solidFill>
                  <a:srgbClr val="1F2F5C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1pPr>
          </a:lstStyle>
          <a:p>
            <a:pPr/>
            <a:r>
              <a:t>Manual Failure Modes</a:t>
            </a:r>
          </a:p>
        </p:txBody>
      </p:sp>
      <p:sp>
        <p:nvSpPr>
          <p:cNvPr id="72" name="Text 13"/>
          <p:cNvSpPr txBox="1"/>
          <p:nvPr/>
        </p:nvSpPr>
        <p:spPr>
          <a:xfrm>
            <a:off x="558785" y="4747219"/>
            <a:ext cx="3047926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defTabSz="886968">
              <a:lnSpc>
                <a:spcPct val="125000"/>
              </a:lnSpc>
              <a:defRPr sz="1552">
                <a:solidFill>
                  <a:srgbClr val="2E3446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Manual scheduling causes clashes in time, rooms and equipment</a:t>
            </a:r>
          </a:p>
        </p:txBody>
      </p:sp>
      <p:sp>
        <p:nvSpPr>
          <p:cNvPr id="73" name="Shape 14"/>
          <p:cNvSpPr/>
          <p:nvPr/>
        </p:nvSpPr>
        <p:spPr>
          <a:xfrm>
            <a:off x="3784505" y="3738860"/>
            <a:ext cx="3225720" cy="20777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336"/>
                </a:lnTo>
                <a:cubicBezTo>
                  <a:pt x="21600" y="21482"/>
                  <a:pt x="21524" y="21600"/>
                  <a:pt x="21430" y="21600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DDD6C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4" name="Shape 15"/>
          <p:cNvSpPr/>
          <p:nvPr/>
        </p:nvSpPr>
        <p:spPr>
          <a:xfrm>
            <a:off x="3962301" y="3865860"/>
            <a:ext cx="355593" cy="355601"/>
          </a:xfrm>
          <a:prstGeom prst="ellipse">
            <a:avLst/>
          </a:prstGeom>
          <a:solidFill>
            <a:srgbClr val="1F2F5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5" name="Text 16"/>
          <p:cNvSpPr txBox="1"/>
          <p:nvPr/>
        </p:nvSpPr>
        <p:spPr>
          <a:xfrm>
            <a:off x="4078682" y="3942060"/>
            <a:ext cx="12700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83000"/>
              </a:lnSpc>
              <a:defRPr sz="1600">
                <a:solidFill>
                  <a:srgbClr val="FFFFFF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76" name="Text 17"/>
          <p:cNvSpPr txBox="1"/>
          <p:nvPr/>
        </p:nvSpPr>
        <p:spPr>
          <a:xfrm>
            <a:off x="3962301" y="4304010"/>
            <a:ext cx="152460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8000"/>
              </a:lnSpc>
              <a:defRPr>
                <a:solidFill>
                  <a:srgbClr val="2E3446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1pPr>
          </a:lstStyle>
          <a:p>
            <a:pPr/>
            <a:r>
              <a:t>Core Objective</a:t>
            </a:r>
          </a:p>
        </p:txBody>
      </p:sp>
      <p:sp>
        <p:nvSpPr>
          <p:cNvPr id="77" name="Text 18"/>
          <p:cNvSpPr txBox="1"/>
          <p:nvPr/>
        </p:nvSpPr>
        <p:spPr>
          <a:xfrm>
            <a:off x="3962301" y="4747219"/>
            <a:ext cx="3047925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25000"/>
              </a:lnSpc>
              <a:defRPr b="1" sz="1600">
                <a:solidFill>
                  <a:srgbClr val="2E3446"/>
                </a:solidFill>
                <a:latin typeface="Outfit Bold"/>
                <a:ea typeface="Outfit Bold"/>
                <a:cs typeface="Outfit Bold"/>
                <a:sym typeface="Outfit Bold"/>
              </a:defRPr>
            </a:pPr>
            <a:r>
              <a:t>Goal:</a:t>
            </a:r>
            <a:r>
              <a:rPr b="0">
                <a:latin typeface="Outfit"/>
                <a:ea typeface="Outfit"/>
                <a:cs typeface="Outfit"/>
                <a:sym typeface="Outfit"/>
              </a:rPr>
              <a:t> build a conflict-free schedule automatically</a:t>
            </a:r>
          </a:p>
        </p:txBody>
      </p:sp>
      <p:pic>
        <p:nvPicPr>
          <p:cNvPr id="78" name="Image 0" descr="Image 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518211" y="381000"/>
            <a:ext cx="4114698" cy="5384800"/>
          </a:xfrm>
          <a:prstGeom prst="rect">
            <a:avLst/>
          </a:prstGeom>
          <a:ln w="12700">
            <a:miter lim="400000"/>
          </a:ln>
        </p:spPr>
      </p:pic>
      <p:sp>
        <p:nvSpPr>
          <p:cNvPr id="79" name="Shape 20"/>
          <p:cNvSpPr/>
          <p:nvPr/>
        </p:nvSpPr>
        <p:spPr>
          <a:xfrm>
            <a:off x="-1" y="6248400"/>
            <a:ext cx="12191697" cy="609600"/>
          </a:xfrm>
          <a:prstGeom prst="rect">
            <a:avLst/>
          </a:prstGeom>
          <a:solidFill>
            <a:srgbClr val="1F2F5C"/>
          </a:solidFill>
          <a:ln w="12700">
            <a:miter lim="400000"/>
          </a:ln>
          <a:effectLst>
            <a:outerShdw sx="100000" sy="100000" kx="0" ky="0" algn="b" rotWithShape="0" blurRad="0" dist="24130" dir="5400000">
              <a:srgbClr val="C9A227"/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" name="Text 21"/>
          <p:cNvSpPr txBox="1"/>
          <p:nvPr/>
        </p:nvSpPr>
        <p:spPr>
          <a:xfrm>
            <a:off x="11430309" y="6476999"/>
            <a:ext cx="15396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lnSpc>
                <a:spcPct val="125000"/>
              </a:lnSpc>
              <a:defRPr sz="10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81" name="Shape 22"/>
          <p:cNvSpPr/>
          <p:nvPr/>
        </p:nvSpPr>
        <p:spPr>
          <a:xfrm>
            <a:off x="3774980" y="1661119"/>
            <a:ext cx="19051" cy="2077741"/>
          </a:xfrm>
          <a:prstGeom prst="rect">
            <a:avLst/>
          </a:prstGeom>
          <a:solidFill>
            <a:srgbClr val="C9A22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2" name="Shape 23"/>
          <p:cNvSpPr/>
          <p:nvPr/>
        </p:nvSpPr>
        <p:spPr>
          <a:xfrm>
            <a:off x="558786" y="3729335"/>
            <a:ext cx="3225719" cy="19051"/>
          </a:xfrm>
          <a:prstGeom prst="rect">
            <a:avLst/>
          </a:prstGeom>
          <a:solidFill>
            <a:srgbClr val="C9A22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3" name="Shape 24"/>
          <p:cNvSpPr/>
          <p:nvPr/>
        </p:nvSpPr>
        <p:spPr>
          <a:xfrm>
            <a:off x="3774980" y="3738860"/>
            <a:ext cx="19051" cy="2077741"/>
          </a:xfrm>
          <a:prstGeom prst="rect">
            <a:avLst/>
          </a:prstGeom>
          <a:solidFill>
            <a:srgbClr val="C9A22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4" name="Shape 25"/>
          <p:cNvSpPr/>
          <p:nvPr/>
        </p:nvSpPr>
        <p:spPr>
          <a:xfrm>
            <a:off x="3784505" y="3729335"/>
            <a:ext cx="3225720" cy="19051"/>
          </a:xfrm>
          <a:prstGeom prst="rect">
            <a:avLst/>
          </a:prstGeom>
          <a:solidFill>
            <a:srgbClr val="C9A22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 0"/>
          <p:cNvSpPr txBox="1"/>
          <p:nvPr/>
        </p:nvSpPr>
        <p:spPr>
          <a:xfrm>
            <a:off x="901677" y="279399"/>
            <a:ext cx="7281882" cy="761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3498" tIns="63498" rIns="63498" bIns="63498">
            <a:spAutoFit/>
          </a:bodyPr>
          <a:lstStyle/>
          <a:p>
            <a:pPr>
              <a:lnSpc>
                <a:spcPct val="79000"/>
              </a:lnSpc>
              <a:defRPr spc="42" sz="4200">
                <a:solidFill>
                  <a:srgbClr val="C9A227"/>
                </a:solidFill>
                <a:latin typeface="Big Shoulders ExtraBold"/>
                <a:ea typeface="Big Shoulders ExtraBold"/>
                <a:cs typeface="Big Shoulders ExtraBold"/>
                <a:sym typeface="Big Shoulders ExtraBold"/>
              </a:defRPr>
            </a:pPr>
            <a:r>
              <a:t>CONSTRAINTS</a:t>
            </a:r>
            <a:r>
              <a:rPr>
                <a:solidFill>
                  <a:srgbClr val="E9E4D8"/>
                </a:solidFill>
              </a:rPr>
              <a:t> TO SATISFY</a:t>
            </a:r>
          </a:p>
        </p:txBody>
      </p:sp>
      <p:sp>
        <p:nvSpPr>
          <p:cNvPr id="89" name="Shape 1"/>
          <p:cNvSpPr/>
          <p:nvPr/>
        </p:nvSpPr>
        <p:spPr>
          <a:xfrm>
            <a:off x="558785" y="1167109"/>
            <a:ext cx="2768533" cy="38101"/>
          </a:xfrm>
          <a:prstGeom prst="roundRect">
            <a:avLst>
              <a:gd name="adj" fmla="val 49999"/>
            </a:avLst>
          </a:prstGeom>
          <a:solidFill>
            <a:srgbClr val="C9A22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0" name="Shape 2"/>
          <p:cNvSpPr/>
          <p:nvPr/>
        </p:nvSpPr>
        <p:spPr>
          <a:xfrm>
            <a:off x="558785" y="1440159"/>
            <a:ext cx="5460865" cy="2200871"/>
          </a:xfrm>
          <a:prstGeom prst="roundRect">
            <a:avLst>
              <a:gd name="adj" fmla="val 1385"/>
            </a:avLst>
          </a:prstGeom>
          <a:solidFill>
            <a:srgbClr val="E1D8C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91" name="Image 0" descr="Image 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87379" y="1567159"/>
            <a:ext cx="507989" cy="508001"/>
          </a:xfrm>
          <a:prstGeom prst="rect">
            <a:avLst/>
          </a:prstGeom>
          <a:ln w="12700">
            <a:miter lim="400000"/>
          </a:ln>
        </p:spPr>
      </p:pic>
      <p:sp>
        <p:nvSpPr>
          <p:cNvPr id="92" name="Text 3"/>
          <p:cNvSpPr txBox="1"/>
          <p:nvPr/>
        </p:nvSpPr>
        <p:spPr>
          <a:xfrm>
            <a:off x="787380" y="2259309"/>
            <a:ext cx="1486546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8000"/>
              </a:lnSpc>
              <a:defRPr sz="2400">
                <a:solidFill>
                  <a:srgbClr val="A8402E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1pPr>
          </a:lstStyle>
          <a:p>
            <a:pPr/>
            <a:r>
              <a:t>Room type</a:t>
            </a:r>
          </a:p>
        </p:txBody>
      </p:sp>
      <p:sp>
        <p:nvSpPr>
          <p:cNvPr id="93" name="Text 4"/>
          <p:cNvSpPr txBox="1"/>
          <p:nvPr/>
        </p:nvSpPr>
        <p:spPr>
          <a:xfrm>
            <a:off x="787380" y="2801541"/>
            <a:ext cx="5003675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25000"/>
              </a:lnSpc>
              <a:defRPr>
                <a:solidFill>
                  <a:srgbClr val="2E3446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Event needs a matching venue: classroom, hall or lab</a:t>
            </a:r>
          </a:p>
        </p:txBody>
      </p:sp>
      <p:sp>
        <p:nvSpPr>
          <p:cNvPr id="94" name="Shape 5"/>
          <p:cNvSpPr/>
          <p:nvPr/>
        </p:nvSpPr>
        <p:spPr>
          <a:xfrm>
            <a:off x="6172046" y="1440159"/>
            <a:ext cx="5460864" cy="2200871"/>
          </a:xfrm>
          <a:prstGeom prst="roundRect">
            <a:avLst>
              <a:gd name="adj" fmla="val 1385"/>
            </a:avLst>
          </a:prstGeom>
          <a:solidFill>
            <a:srgbClr val="E1D8C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95" name="Image 1" descr="Image 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400639" y="1567159"/>
            <a:ext cx="507988" cy="508001"/>
          </a:xfrm>
          <a:prstGeom prst="rect">
            <a:avLst/>
          </a:prstGeom>
          <a:ln w="12700">
            <a:miter lim="400000"/>
          </a:ln>
        </p:spPr>
      </p:pic>
      <p:sp>
        <p:nvSpPr>
          <p:cNvPr id="96" name="Text 6"/>
          <p:cNvSpPr txBox="1"/>
          <p:nvPr/>
        </p:nvSpPr>
        <p:spPr>
          <a:xfrm>
            <a:off x="6400640" y="2259309"/>
            <a:ext cx="1763217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8000"/>
              </a:lnSpc>
              <a:defRPr sz="2400">
                <a:solidFill>
                  <a:srgbClr val="A8402E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1pPr>
          </a:lstStyle>
          <a:p>
            <a:pPr/>
            <a:r>
              <a:t>Time overlap</a:t>
            </a:r>
          </a:p>
        </p:txBody>
      </p:sp>
      <p:sp>
        <p:nvSpPr>
          <p:cNvPr id="97" name="Text 7"/>
          <p:cNvSpPr txBox="1"/>
          <p:nvPr/>
        </p:nvSpPr>
        <p:spPr>
          <a:xfrm>
            <a:off x="6400640" y="2801541"/>
            <a:ext cx="5003675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25000"/>
              </a:lnSpc>
              <a:defRPr>
                <a:solidFill>
                  <a:srgbClr val="2E3446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Two events cannot use the same room at the same hour</a:t>
            </a:r>
          </a:p>
        </p:txBody>
      </p:sp>
      <p:sp>
        <p:nvSpPr>
          <p:cNvPr id="98" name="Shape 8"/>
          <p:cNvSpPr/>
          <p:nvPr/>
        </p:nvSpPr>
        <p:spPr>
          <a:xfrm>
            <a:off x="558785" y="3793430"/>
            <a:ext cx="5460865" cy="2200970"/>
          </a:xfrm>
          <a:prstGeom prst="roundRect">
            <a:avLst>
              <a:gd name="adj" fmla="val 1385"/>
            </a:avLst>
          </a:prstGeom>
          <a:solidFill>
            <a:srgbClr val="E1D8C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99" name="Image 2" descr="Image 2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787379" y="3920430"/>
            <a:ext cx="507989" cy="508001"/>
          </a:xfrm>
          <a:prstGeom prst="rect">
            <a:avLst/>
          </a:prstGeom>
          <a:ln w="12700">
            <a:miter lim="400000"/>
          </a:ln>
        </p:spPr>
      </p:pic>
      <p:sp>
        <p:nvSpPr>
          <p:cNvPr id="100" name="Text 9"/>
          <p:cNvSpPr txBox="1"/>
          <p:nvPr/>
        </p:nvSpPr>
        <p:spPr>
          <a:xfrm>
            <a:off x="787380" y="4612580"/>
            <a:ext cx="1469877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8000"/>
              </a:lnSpc>
              <a:defRPr sz="2400">
                <a:solidFill>
                  <a:srgbClr val="A8402E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1pPr>
          </a:lstStyle>
          <a:p>
            <a:pPr/>
            <a:r>
              <a:t>Equipment</a:t>
            </a:r>
          </a:p>
        </p:txBody>
      </p:sp>
      <p:sp>
        <p:nvSpPr>
          <p:cNvPr id="101" name="Text 10"/>
          <p:cNvSpPr txBox="1"/>
          <p:nvPr/>
        </p:nvSpPr>
        <p:spPr>
          <a:xfrm>
            <a:off x="787380" y="5154810"/>
            <a:ext cx="5003675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25000"/>
              </a:lnSpc>
              <a:defRPr>
                <a:solidFill>
                  <a:srgbClr val="2E3446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Projectors, mics, laptops in use must never exceed stock</a:t>
            </a:r>
          </a:p>
        </p:txBody>
      </p:sp>
      <p:sp>
        <p:nvSpPr>
          <p:cNvPr id="102" name="Shape 11"/>
          <p:cNvSpPr/>
          <p:nvPr/>
        </p:nvSpPr>
        <p:spPr>
          <a:xfrm>
            <a:off x="6172046" y="3793430"/>
            <a:ext cx="5460864" cy="2200970"/>
          </a:xfrm>
          <a:prstGeom prst="roundRect">
            <a:avLst>
              <a:gd name="adj" fmla="val 1385"/>
            </a:avLst>
          </a:prstGeom>
          <a:solidFill>
            <a:srgbClr val="E1D8C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03" name="Image 3" descr="Image 3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6400639" y="3920430"/>
            <a:ext cx="507988" cy="508001"/>
          </a:xfrm>
          <a:prstGeom prst="rect">
            <a:avLst/>
          </a:prstGeom>
          <a:ln w="12700">
            <a:miter lim="400000"/>
          </a:ln>
        </p:spPr>
      </p:pic>
      <p:sp>
        <p:nvSpPr>
          <p:cNvPr id="104" name="Text 12"/>
          <p:cNvSpPr txBox="1"/>
          <p:nvPr/>
        </p:nvSpPr>
        <p:spPr>
          <a:xfrm>
            <a:off x="6400640" y="4612580"/>
            <a:ext cx="1780035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8000"/>
              </a:lnSpc>
              <a:defRPr sz="2400">
                <a:solidFill>
                  <a:srgbClr val="A8402E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1pPr>
          </a:lstStyle>
          <a:p>
            <a:pPr/>
            <a:r>
              <a:t>Time window</a:t>
            </a:r>
          </a:p>
        </p:txBody>
      </p:sp>
      <p:sp>
        <p:nvSpPr>
          <p:cNvPr id="105" name="Text 13"/>
          <p:cNvSpPr txBox="1"/>
          <p:nvPr/>
        </p:nvSpPr>
        <p:spPr>
          <a:xfrm>
            <a:off x="6400640" y="5154810"/>
            <a:ext cx="5003675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25000"/>
              </a:lnSpc>
              <a:defRPr>
                <a:solidFill>
                  <a:srgbClr val="2E3446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Each event must fit inside its allowed start-end window</a:t>
            </a:r>
          </a:p>
        </p:txBody>
      </p:sp>
      <p:sp>
        <p:nvSpPr>
          <p:cNvPr id="106" name="Shape 14"/>
          <p:cNvSpPr/>
          <p:nvPr/>
        </p:nvSpPr>
        <p:spPr>
          <a:xfrm>
            <a:off x="-1" y="6248400"/>
            <a:ext cx="12191697" cy="609600"/>
          </a:xfrm>
          <a:prstGeom prst="rect">
            <a:avLst/>
          </a:prstGeom>
          <a:solidFill>
            <a:srgbClr val="1F2F5C"/>
          </a:solidFill>
          <a:ln w="12700">
            <a:miter lim="400000"/>
          </a:ln>
          <a:effectLst>
            <a:outerShdw sx="100000" sy="100000" kx="0" ky="0" algn="b" rotWithShape="0" blurRad="0" dist="24130" dir="5400000">
              <a:srgbClr val="C9A227"/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" name="Text 15"/>
          <p:cNvSpPr txBox="1"/>
          <p:nvPr/>
        </p:nvSpPr>
        <p:spPr>
          <a:xfrm>
            <a:off x="11430409" y="6476999"/>
            <a:ext cx="15396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lnSpc>
                <a:spcPct val="125000"/>
              </a:lnSpc>
              <a:defRPr sz="10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03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 0"/>
          <p:cNvSpPr txBox="1"/>
          <p:nvPr/>
        </p:nvSpPr>
        <p:spPr>
          <a:xfrm>
            <a:off x="901677" y="380999"/>
            <a:ext cx="5045446" cy="761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3498" tIns="63498" rIns="63498" bIns="63498">
            <a:spAutoFit/>
          </a:bodyPr>
          <a:lstStyle>
            <a:lvl1pPr>
              <a:lnSpc>
                <a:spcPct val="79000"/>
              </a:lnSpc>
              <a:defRPr spc="42" sz="4200">
                <a:solidFill>
                  <a:srgbClr val="E9E4D8"/>
                </a:solidFill>
                <a:latin typeface="Big Shoulders ExtraBold"/>
                <a:ea typeface="Big Shoulders ExtraBold"/>
                <a:cs typeface="Big Shoulders ExtraBold"/>
                <a:sym typeface="Big Shoulders ExtraBold"/>
              </a:defRPr>
            </a:lvl1pPr>
          </a:lstStyle>
          <a:p>
            <a:pPr/>
            <a:r>
              <a:t>CORE ALGORITHM</a:t>
            </a:r>
          </a:p>
        </p:txBody>
      </p:sp>
      <p:sp>
        <p:nvSpPr>
          <p:cNvPr id="112" name="Text 1"/>
          <p:cNvSpPr txBox="1"/>
          <p:nvPr/>
        </p:nvSpPr>
        <p:spPr>
          <a:xfrm>
            <a:off x="558785" y="2336105"/>
            <a:ext cx="6370182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25000"/>
              </a:lnSpc>
              <a:defRPr sz="1600">
                <a:solidFill>
                  <a:srgbClr val="2E3446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schedule(i):</a:t>
            </a:r>
          </a:p>
          <a:p>
            <a:pPr>
              <a:lnSpc>
                <a:spcPct val="125000"/>
              </a:lnSpc>
              <a:defRPr sz="1600">
                <a:solidFill>
                  <a:srgbClr val="2E3446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  if i == n: return SOLUTION</a:t>
            </a:r>
          </a:p>
          <a:p>
            <a:pPr>
              <a:lnSpc>
                <a:spcPct val="125000"/>
              </a:lnSpc>
              <a:defRPr sz="1600">
                <a:solidFill>
                  <a:srgbClr val="2E3446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  for (room, start) in options(event[i]):</a:t>
            </a:r>
          </a:p>
          <a:p>
            <a:pPr>
              <a:lnSpc>
                <a:spcPct val="125000"/>
              </a:lnSpc>
              <a:defRPr sz="1600">
                <a:solidFill>
                  <a:srgbClr val="2E3446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    if no_room_clash and equipment_ok:</a:t>
            </a:r>
          </a:p>
          <a:p>
            <a:pPr>
              <a:lnSpc>
                <a:spcPct val="125000"/>
              </a:lnSpc>
              <a:defRPr sz="1600">
                <a:solidFill>
                  <a:srgbClr val="2E3446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      assign(event[i], room, start)</a:t>
            </a:r>
          </a:p>
          <a:p>
            <a:pPr>
              <a:lnSpc>
                <a:spcPct val="125000"/>
              </a:lnSpc>
              <a:defRPr sz="1600">
                <a:solidFill>
                  <a:srgbClr val="2E3446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      if schedule(i+1): return true</a:t>
            </a:r>
          </a:p>
          <a:p>
            <a:pPr>
              <a:lnSpc>
                <a:spcPct val="125000"/>
              </a:lnSpc>
              <a:defRPr sz="1600">
                <a:solidFill>
                  <a:srgbClr val="2E3446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      unassign(event[i])   // BACKTRACK</a:t>
            </a:r>
          </a:p>
          <a:p>
            <a:pPr>
              <a:lnSpc>
                <a:spcPct val="125000"/>
              </a:lnSpc>
              <a:defRPr sz="1600">
                <a:solidFill>
                  <a:srgbClr val="2E3446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  return false</a:t>
            </a:r>
          </a:p>
        </p:txBody>
      </p:sp>
      <p:sp>
        <p:nvSpPr>
          <p:cNvPr id="113" name="Shape 2"/>
          <p:cNvSpPr/>
          <p:nvPr/>
        </p:nvSpPr>
        <p:spPr>
          <a:xfrm>
            <a:off x="7386056" y="1217909"/>
            <a:ext cx="4246854" cy="1456631"/>
          </a:xfrm>
          <a:prstGeom prst="roundRect">
            <a:avLst>
              <a:gd name="adj" fmla="val 2092"/>
            </a:avLst>
          </a:prstGeom>
          <a:solidFill>
            <a:srgbClr val="E1D8C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4" name="Text 3"/>
          <p:cNvSpPr txBox="1"/>
          <p:nvPr/>
        </p:nvSpPr>
        <p:spPr>
          <a:xfrm>
            <a:off x="7563850" y="1370309"/>
            <a:ext cx="194385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8000"/>
              </a:lnSpc>
              <a:defRPr>
                <a:solidFill>
                  <a:srgbClr val="1F2F5C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1pPr>
          </a:lstStyle>
          <a:p>
            <a:pPr/>
            <a:r>
              <a:t>Why backtracking?</a:t>
            </a:r>
          </a:p>
        </p:txBody>
      </p:sp>
      <p:sp>
        <p:nvSpPr>
          <p:cNvPr id="115" name="Text 4"/>
          <p:cNvSpPr txBox="1"/>
          <p:nvPr/>
        </p:nvSpPr>
        <p:spPr>
          <a:xfrm>
            <a:off x="7563850" y="1813519"/>
            <a:ext cx="3891263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25000"/>
              </a:lnSpc>
              <a:defRPr sz="1400">
                <a:solidFill>
                  <a:srgbClr val="2E3446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Choose a (room, time) per event, check constraints, undo dead ends.</a:t>
            </a:r>
          </a:p>
        </p:txBody>
      </p:sp>
      <p:sp>
        <p:nvSpPr>
          <p:cNvPr id="116" name="Shape 5"/>
          <p:cNvSpPr/>
          <p:nvPr/>
        </p:nvSpPr>
        <p:spPr>
          <a:xfrm>
            <a:off x="7386056" y="2826941"/>
            <a:ext cx="4246854" cy="1456730"/>
          </a:xfrm>
          <a:prstGeom prst="roundRect">
            <a:avLst>
              <a:gd name="adj" fmla="val 2092"/>
            </a:avLst>
          </a:prstGeom>
          <a:solidFill>
            <a:srgbClr val="E1D8C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7" name="Text 6"/>
          <p:cNvSpPr txBox="1"/>
          <p:nvPr/>
        </p:nvSpPr>
        <p:spPr>
          <a:xfrm>
            <a:off x="7563850" y="2979341"/>
            <a:ext cx="1283172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8000"/>
              </a:lnSpc>
              <a:defRPr>
                <a:solidFill>
                  <a:srgbClr val="1F2F5C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1pPr>
          </a:lstStyle>
          <a:p>
            <a:pPr/>
            <a:r>
              <a:t>Optimization</a:t>
            </a:r>
          </a:p>
        </p:txBody>
      </p:sp>
      <p:sp>
        <p:nvSpPr>
          <p:cNvPr id="118" name="Text 7"/>
          <p:cNvSpPr txBox="1"/>
          <p:nvPr/>
        </p:nvSpPr>
        <p:spPr>
          <a:xfrm>
            <a:off x="7563850" y="3422551"/>
            <a:ext cx="3891263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25000"/>
              </a:lnSpc>
              <a:defRPr sz="1400">
                <a:solidFill>
                  <a:srgbClr val="2E3446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MRV heuristic: schedule events with the fewest options first.</a:t>
            </a:r>
          </a:p>
        </p:txBody>
      </p:sp>
      <p:sp>
        <p:nvSpPr>
          <p:cNvPr id="119" name="Shape 8"/>
          <p:cNvSpPr/>
          <p:nvPr/>
        </p:nvSpPr>
        <p:spPr>
          <a:xfrm>
            <a:off x="7386056" y="4436069"/>
            <a:ext cx="4246854" cy="1456731"/>
          </a:xfrm>
          <a:prstGeom prst="roundRect">
            <a:avLst>
              <a:gd name="adj" fmla="val 2092"/>
            </a:avLst>
          </a:prstGeom>
          <a:solidFill>
            <a:srgbClr val="E1D8C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0" name="Text 9"/>
          <p:cNvSpPr txBox="1"/>
          <p:nvPr/>
        </p:nvSpPr>
        <p:spPr>
          <a:xfrm>
            <a:off x="7563850" y="4588469"/>
            <a:ext cx="863924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8000"/>
              </a:lnSpc>
              <a:defRPr>
                <a:solidFill>
                  <a:srgbClr val="1F2F5C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1pPr>
          </a:lstStyle>
          <a:p>
            <a:pPr/>
            <a:r>
              <a:t>Fallback</a:t>
            </a:r>
          </a:p>
        </p:txBody>
      </p:sp>
      <p:sp>
        <p:nvSpPr>
          <p:cNvPr id="121" name="Text 10"/>
          <p:cNvSpPr txBox="1"/>
          <p:nvPr/>
        </p:nvSpPr>
        <p:spPr>
          <a:xfrm>
            <a:off x="7563850" y="5031680"/>
            <a:ext cx="3891263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25000"/>
              </a:lnSpc>
              <a:defRPr sz="1400">
                <a:solidFill>
                  <a:srgbClr val="2E3446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If no full schedule exists, report the best partial schedule and the unscheduled events.</a:t>
            </a:r>
          </a:p>
        </p:txBody>
      </p:sp>
      <p:sp>
        <p:nvSpPr>
          <p:cNvPr id="122" name="Shape 11"/>
          <p:cNvSpPr/>
          <p:nvPr/>
        </p:nvSpPr>
        <p:spPr>
          <a:xfrm>
            <a:off x="-1" y="6248400"/>
            <a:ext cx="12191697" cy="609600"/>
          </a:xfrm>
          <a:prstGeom prst="rect">
            <a:avLst/>
          </a:prstGeom>
          <a:solidFill>
            <a:srgbClr val="1F2F5C"/>
          </a:solidFill>
          <a:ln w="12700">
            <a:miter lim="400000"/>
          </a:ln>
          <a:effectLst>
            <a:outerShdw sx="100000" sy="100000" kx="0" ky="0" algn="b" rotWithShape="0" blurRad="0" dist="24130" dir="5400000">
              <a:srgbClr val="C9A227"/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" name="Text 12"/>
          <p:cNvSpPr txBox="1"/>
          <p:nvPr/>
        </p:nvSpPr>
        <p:spPr>
          <a:xfrm>
            <a:off x="11422768" y="6476999"/>
            <a:ext cx="153964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lnSpc>
                <a:spcPct val="125000"/>
              </a:lnSpc>
              <a:defRPr sz="10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04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 0"/>
          <p:cNvSpPr txBox="1"/>
          <p:nvPr/>
        </p:nvSpPr>
        <p:spPr>
          <a:xfrm>
            <a:off x="558785" y="406399"/>
            <a:ext cx="6621236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79000"/>
              </a:lnSpc>
              <a:defRPr spc="42" sz="4200">
                <a:solidFill>
                  <a:srgbClr val="1F2F5C"/>
                </a:solidFill>
                <a:latin typeface="Big Shoulders ExtraBold"/>
                <a:ea typeface="Big Shoulders ExtraBold"/>
                <a:cs typeface="Big Shoulders ExtraBold"/>
                <a:sym typeface="Big Shoulders ExtraBold"/>
              </a:defRPr>
            </a:pPr>
            <a:r>
              <a:t>COMPLEXITY &amp; </a:t>
            </a:r>
            <a:r>
              <a:rPr>
                <a:solidFill>
                  <a:srgbClr val="A8402E"/>
                </a:solidFill>
              </a:rPr>
              <a:t>RESULTS</a:t>
            </a:r>
          </a:p>
        </p:txBody>
      </p:sp>
      <p:sp>
        <p:nvSpPr>
          <p:cNvPr id="128" name="Shape 1"/>
          <p:cNvSpPr/>
          <p:nvPr/>
        </p:nvSpPr>
        <p:spPr>
          <a:xfrm>
            <a:off x="558785" y="1167109"/>
            <a:ext cx="2768533" cy="38101"/>
          </a:xfrm>
          <a:prstGeom prst="roundRect">
            <a:avLst>
              <a:gd name="adj" fmla="val 49999"/>
            </a:avLst>
          </a:prstGeom>
          <a:solidFill>
            <a:srgbClr val="C9A22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9" name="Shape 2"/>
          <p:cNvSpPr/>
          <p:nvPr/>
        </p:nvSpPr>
        <p:spPr>
          <a:xfrm>
            <a:off x="558785" y="2244923"/>
            <a:ext cx="3488148" cy="2265364"/>
          </a:xfrm>
          <a:prstGeom prst="rect">
            <a:avLst/>
          </a:prstGeom>
          <a:solidFill>
            <a:srgbClr val="1F2F5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0" name="Text 3"/>
          <p:cNvSpPr txBox="1"/>
          <p:nvPr/>
        </p:nvSpPr>
        <p:spPr>
          <a:xfrm>
            <a:off x="910095" y="2600523"/>
            <a:ext cx="2785528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ct val="77000"/>
              </a:lnSpc>
              <a:defRPr spc="22" sz="4400">
                <a:solidFill>
                  <a:srgbClr val="C9A227"/>
                </a:solidFill>
                <a:latin typeface="Big Shoulders ExtraBold"/>
                <a:ea typeface="Big Shoulders ExtraBold"/>
                <a:cs typeface="Big Shoulders ExtraBold"/>
                <a:sym typeface="Big Shoulders ExtraBold"/>
              </a:defRPr>
            </a:lvl1pPr>
          </a:lstStyle>
          <a:p>
            <a:pPr/>
            <a:r>
              <a:t>O((R·T)^N)</a:t>
            </a:r>
          </a:p>
        </p:txBody>
      </p:sp>
      <p:sp>
        <p:nvSpPr>
          <p:cNvPr id="131" name="Text 4"/>
          <p:cNvSpPr txBox="1"/>
          <p:nvPr/>
        </p:nvSpPr>
        <p:spPr>
          <a:xfrm>
            <a:off x="911520" y="3317776"/>
            <a:ext cx="278267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pc="96" sz="1200">
                <a:solidFill>
                  <a:srgbClr val="FFFFFF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</a:lstStyle>
          <a:p>
            <a:pPr/>
            <a:r>
              <a:t>WORST-CASE TIME COMPLEXITY</a:t>
            </a:r>
          </a:p>
        </p:txBody>
      </p:sp>
      <p:sp>
        <p:nvSpPr>
          <p:cNvPr id="132" name="Text 5"/>
          <p:cNvSpPr txBox="1"/>
          <p:nvPr/>
        </p:nvSpPr>
        <p:spPr>
          <a:xfrm>
            <a:off x="787379" y="3621285"/>
            <a:ext cx="3030960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ctr">
              <a:lnSpc>
                <a:spcPct val="125000"/>
              </a:lnSpc>
              <a:defRPr sz="14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Worst-case time: R rooms, T slots, n events</a:t>
            </a:r>
          </a:p>
        </p:txBody>
      </p:sp>
      <p:sp>
        <p:nvSpPr>
          <p:cNvPr id="133" name="Shape 6"/>
          <p:cNvSpPr/>
          <p:nvPr/>
        </p:nvSpPr>
        <p:spPr>
          <a:xfrm>
            <a:off x="4351725" y="2244923"/>
            <a:ext cx="3488147" cy="2265364"/>
          </a:xfrm>
          <a:prstGeom prst="rect">
            <a:avLst/>
          </a:prstGeom>
          <a:solidFill>
            <a:srgbClr val="1F2F5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4" name="Text 7"/>
          <p:cNvSpPr txBox="1"/>
          <p:nvPr/>
        </p:nvSpPr>
        <p:spPr>
          <a:xfrm>
            <a:off x="5478675" y="2600523"/>
            <a:ext cx="1234246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ct val="77000"/>
              </a:lnSpc>
              <a:defRPr spc="22" sz="4400">
                <a:solidFill>
                  <a:srgbClr val="C9A227"/>
                </a:solidFill>
                <a:latin typeface="Big Shoulders ExtraBold"/>
                <a:ea typeface="Big Shoulders ExtraBold"/>
                <a:cs typeface="Big Shoulders ExtraBold"/>
                <a:sym typeface="Big Shoulders ExtraBold"/>
              </a:defRPr>
            </a:lvl1pPr>
          </a:lstStyle>
          <a:p>
            <a:pPr/>
            <a:r>
              <a:t>O(N)</a:t>
            </a:r>
          </a:p>
        </p:txBody>
      </p:sp>
      <p:sp>
        <p:nvSpPr>
          <p:cNvPr id="135" name="Text 8"/>
          <p:cNvSpPr txBox="1"/>
          <p:nvPr/>
        </p:nvSpPr>
        <p:spPr>
          <a:xfrm>
            <a:off x="5328728" y="3317776"/>
            <a:ext cx="153414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pc="96" sz="1200">
                <a:solidFill>
                  <a:srgbClr val="FFFFFF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</a:lstStyle>
          <a:p>
            <a:pPr/>
            <a:r>
              <a:t>AUXILIARY SPACE</a:t>
            </a:r>
          </a:p>
        </p:txBody>
      </p:sp>
      <p:sp>
        <p:nvSpPr>
          <p:cNvPr id="136" name="Text 9"/>
          <p:cNvSpPr txBox="1"/>
          <p:nvPr/>
        </p:nvSpPr>
        <p:spPr>
          <a:xfrm>
            <a:off x="4580318" y="3621285"/>
            <a:ext cx="3030959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ctr">
              <a:lnSpc>
                <a:spcPct val="125000"/>
              </a:lnSpc>
              <a:defRPr sz="14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Space: recursion depth and assignments</a:t>
            </a:r>
          </a:p>
        </p:txBody>
      </p:sp>
      <p:sp>
        <p:nvSpPr>
          <p:cNvPr id="137" name="Shape 10"/>
          <p:cNvSpPr/>
          <p:nvPr/>
        </p:nvSpPr>
        <p:spPr>
          <a:xfrm>
            <a:off x="8144663" y="2244923"/>
            <a:ext cx="3488247" cy="2265364"/>
          </a:xfrm>
          <a:prstGeom prst="rect">
            <a:avLst/>
          </a:prstGeom>
          <a:solidFill>
            <a:srgbClr val="1F2F5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8" name="Text 11"/>
          <p:cNvSpPr txBox="1"/>
          <p:nvPr/>
        </p:nvSpPr>
        <p:spPr>
          <a:xfrm>
            <a:off x="9178075" y="2600523"/>
            <a:ext cx="1421423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ct val="77000"/>
              </a:lnSpc>
              <a:defRPr spc="22" sz="4400">
                <a:solidFill>
                  <a:srgbClr val="C9A227"/>
                </a:solidFill>
                <a:latin typeface="Big Shoulders ExtraBold"/>
                <a:ea typeface="Big Shoulders ExtraBold"/>
                <a:cs typeface="Big Shoulders ExtraBold"/>
                <a:sym typeface="Big Shoulders ExtraBold"/>
              </a:defRPr>
            </a:lvl1pPr>
          </a:lstStyle>
          <a:p>
            <a:pPr/>
            <a:r>
              <a:t>FAST</a:t>
            </a:r>
          </a:p>
        </p:txBody>
      </p:sp>
      <p:sp>
        <p:nvSpPr>
          <p:cNvPr id="139" name="Text 12"/>
          <p:cNvSpPr txBox="1"/>
          <p:nvPr/>
        </p:nvSpPr>
        <p:spPr>
          <a:xfrm>
            <a:off x="8833683" y="3317776"/>
            <a:ext cx="2110207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pc="96" sz="1200">
                <a:solidFill>
                  <a:srgbClr val="FFFFFF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</a:lstStyle>
          <a:p>
            <a:pPr/>
            <a:r>
              <a:t>PRACTICAL BENCHMARK</a:t>
            </a:r>
          </a:p>
        </p:txBody>
      </p:sp>
      <p:sp>
        <p:nvSpPr>
          <p:cNvPr id="140" name="Text 13"/>
          <p:cNvSpPr txBox="1"/>
          <p:nvPr/>
        </p:nvSpPr>
        <p:spPr>
          <a:xfrm>
            <a:off x="8373257" y="3621285"/>
            <a:ext cx="3031058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ctr">
              <a:lnSpc>
                <a:spcPct val="125000"/>
              </a:lnSpc>
              <a:defRPr sz="14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Pruning and MRV keep typical inputs near-instant</a:t>
            </a:r>
          </a:p>
        </p:txBody>
      </p:sp>
      <p:sp>
        <p:nvSpPr>
          <p:cNvPr id="141" name="Text 14"/>
          <p:cNvSpPr txBox="1"/>
          <p:nvPr/>
        </p:nvSpPr>
        <p:spPr>
          <a:xfrm>
            <a:off x="1211377" y="5499198"/>
            <a:ext cx="9768942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ct val="125000"/>
              </a:lnSpc>
              <a:defRPr b="1">
                <a:solidFill>
                  <a:srgbClr val="1F2F5C"/>
                </a:solidFill>
                <a:latin typeface="Outfit Bold"/>
                <a:ea typeface="Outfit Bold"/>
                <a:cs typeface="Outfit Bold"/>
                <a:sym typeface="Outfit Bold"/>
              </a:defRPr>
            </a:lvl1pPr>
          </a:lstStyle>
          <a:p>
            <a:pPr/>
            <a:r>
              <a:t>The web app shows nodes explored, backtracks and run time for every schedule it builds.</a:t>
            </a:r>
          </a:p>
        </p:txBody>
      </p:sp>
      <p:sp>
        <p:nvSpPr>
          <p:cNvPr id="142" name="Shape 15"/>
          <p:cNvSpPr/>
          <p:nvPr/>
        </p:nvSpPr>
        <p:spPr>
          <a:xfrm>
            <a:off x="-1" y="6248400"/>
            <a:ext cx="12191697" cy="609600"/>
          </a:xfrm>
          <a:prstGeom prst="rect">
            <a:avLst/>
          </a:prstGeom>
          <a:solidFill>
            <a:srgbClr val="1F2F5C"/>
          </a:solidFill>
          <a:ln w="12700">
            <a:miter lim="400000"/>
          </a:ln>
          <a:effectLst>
            <a:outerShdw sx="100000" sy="100000" kx="0" ky="0" algn="b" rotWithShape="0" blurRad="0" dist="24130" dir="5400000">
              <a:srgbClr val="C9A227"/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" name="Text 16"/>
          <p:cNvSpPr txBox="1"/>
          <p:nvPr/>
        </p:nvSpPr>
        <p:spPr>
          <a:xfrm>
            <a:off x="11430011" y="6476999"/>
            <a:ext cx="153964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lnSpc>
                <a:spcPct val="125000"/>
              </a:lnSpc>
              <a:defRPr sz="10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05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 0"/>
          <p:cNvSpPr txBox="1"/>
          <p:nvPr/>
        </p:nvSpPr>
        <p:spPr>
          <a:xfrm>
            <a:off x="660382" y="131564"/>
            <a:ext cx="192508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pc="96" sz="1200">
                <a:solidFill>
                  <a:srgbClr val="C9A227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</a:lstStyle>
          <a:p>
            <a:pPr/>
            <a:r>
              <a:t>SUMMARY &amp; OUTLOOK</a:t>
            </a:r>
          </a:p>
        </p:txBody>
      </p:sp>
      <p:sp>
        <p:nvSpPr>
          <p:cNvPr id="148" name="Text 1"/>
          <p:cNvSpPr txBox="1"/>
          <p:nvPr/>
        </p:nvSpPr>
        <p:spPr>
          <a:xfrm>
            <a:off x="660383" y="396973"/>
            <a:ext cx="6197445" cy="18692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 defTabSz="704087">
              <a:lnSpc>
                <a:spcPct val="77000"/>
              </a:lnSpc>
              <a:defRPr sz="6160">
                <a:solidFill>
                  <a:srgbClr val="FFFFFF"/>
                </a:solidFill>
                <a:latin typeface="Big Shoulders ExtraBold"/>
                <a:ea typeface="Big Shoulders ExtraBold"/>
                <a:cs typeface="Big Shoulders ExtraBold"/>
                <a:sym typeface="Big Shoulders ExtraBold"/>
              </a:defRPr>
            </a:pPr>
            <a:r>
              <a:t>CONCLUSION &amp;</a:t>
            </a:r>
          </a:p>
          <a:p>
            <a:pPr defTabSz="704087">
              <a:lnSpc>
                <a:spcPct val="77000"/>
              </a:lnSpc>
              <a:defRPr sz="6160">
                <a:solidFill>
                  <a:srgbClr val="C9A227"/>
                </a:solidFill>
                <a:latin typeface="Big Shoulders ExtraBold"/>
                <a:ea typeface="Big Shoulders ExtraBold"/>
                <a:cs typeface="Big Shoulders ExtraBold"/>
                <a:sym typeface="Big Shoulders ExtraBold"/>
              </a:defRPr>
            </a:pPr>
            <a:r>
              <a:t>FUTURE SCOPE</a:t>
            </a:r>
          </a:p>
        </p:txBody>
      </p:sp>
      <p:sp>
        <p:nvSpPr>
          <p:cNvPr id="149" name="Shape 2"/>
          <p:cNvSpPr/>
          <p:nvPr/>
        </p:nvSpPr>
        <p:spPr>
          <a:xfrm>
            <a:off x="660382" y="2520255"/>
            <a:ext cx="1549362" cy="38101"/>
          </a:xfrm>
          <a:prstGeom prst="roundRect">
            <a:avLst>
              <a:gd name="adj" fmla="val 49999"/>
            </a:avLst>
          </a:prstGeom>
          <a:solidFill>
            <a:srgbClr val="C9A22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0" name="Text 3"/>
          <p:cNvSpPr txBox="1"/>
          <p:nvPr/>
        </p:nvSpPr>
        <p:spPr>
          <a:xfrm>
            <a:off x="660383" y="2894905"/>
            <a:ext cx="1584214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8000"/>
              </a:lnSpc>
              <a:defRPr>
                <a:solidFill>
                  <a:srgbClr val="C9A227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1pPr>
          </a:lstStyle>
          <a:p>
            <a:pPr/>
            <a:r>
              <a:t>Core Takeaway</a:t>
            </a:r>
          </a:p>
        </p:txBody>
      </p:sp>
      <p:sp>
        <p:nvSpPr>
          <p:cNvPr id="151" name="Text 4"/>
          <p:cNvSpPr txBox="1"/>
          <p:nvPr/>
        </p:nvSpPr>
        <p:spPr>
          <a:xfrm>
            <a:off x="660383" y="3338116"/>
            <a:ext cx="6197445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25000"/>
              </a:lnSpc>
              <a:defRPr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Backtracking gives a correct, conflict-free schedule or proves none exists</a:t>
            </a:r>
          </a:p>
        </p:txBody>
      </p:sp>
      <p:sp>
        <p:nvSpPr>
          <p:cNvPr id="152" name="Text 5"/>
          <p:cNvSpPr txBox="1"/>
          <p:nvPr/>
        </p:nvSpPr>
        <p:spPr>
          <a:xfrm>
            <a:off x="660383" y="4379516"/>
            <a:ext cx="185511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8000"/>
              </a:lnSpc>
              <a:defRPr>
                <a:solidFill>
                  <a:srgbClr val="C9A227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1pPr>
          </a:lstStyle>
          <a:p>
            <a:pPr/>
            <a:r>
              <a:t>Future Extensions</a:t>
            </a:r>
          </a:p>
        </p:txBody>
      </p:sp>
      <p:sp>
        <p:nvSpPr>
          <p:cNvPr id="153" name="Text 6"/>
          <p:cNvSpPr txBox="1"/>
          <p:nvPr/>
        </p:nvSpPr>
        <p:spPr>
          <a:xfrm>
            <a:off x="660383" y="4822726"/>
            <a:ext cx="6197445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25000"/>
              </a:lnSpc>
              <a:defRPr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Future: multi-day scheduling, event priorities, branch and bound, CSV/PDF export</a:t>
            </a:r>
          </a:p>
        </p:txBody>
      </p:sp>
      <p:sp>
        <p:nvSpPr>
          <p:cNvPr id="154" name="Text 7"/>
          <p:cNvSpPr txBox="1"/>
          <p:nvPr/>
        </p:nvSpPr>
        <p:spPr>
          <a:xfrm>
            <a:off x="660383" y="5737126"/>
            <a:ext cx="3163178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79000"/>
              </a:lnSpc>
              <a:defRPr spc="42" sz="4200">
                <a:solidFill>
                  <a:srgbClr val="C9A227"/>
                </a:solidFill>
                <a:latin typeface="Big Shoulders ExtraBold"/>
                <a:ea typeface="Big Shoulders ExtraBold"/>
                <a:cs typeface="Big Shoulders ExtraBold"/>
                <a:sym typeface="Big Shoulders ExtraBold"/>
              </a:defRPr>
            </a:lvl1pPr>
          </a:lstStyle>
          <a:p>
            <a:pPr/>
            <a:r>
              <a:t>THANK YOU</a:t>
            </a:r>
          </a:p>
        </p:txBody>
      </p:sp>
      <p:pic>
        <p:nvPicPr>
          <p:cNvPr id="155" name="Image 0" descr="Image 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518211" y="457200"/>
            <a:ext cx="4063899" cy="5181600"/>
          </a:xfrm>
          <a:prstGeom prst="rect">
            <a:avLst/>
          </a:prstGeom>
          <a:ln w="12700">
            <a:miter lim="400000"/>
          </a:ln>
        </p:spPr>
      </p:pic>
      <p:sp>
        <p:nvSpPr>
          <p:cNvPr id="156" name="Shape 9"/>
          <p:cNvSpPr/>
          <p:nvPr/>
        </p:nvSpPr>
        <p:spPr>
          <a:xfrm>
            <a:off x="-1" y="6248400"/>
            <a:ext cx="12191697" cy="609600"/>
          </a:xfrm>
          <a:prstGeom prst="rect">
            <a:avLst/>
          </a:prstGeom>
          <a:solidFill>
            <a:srgbClr val="1F2F5C"/>
          </a:solidFill>
          <a:ln w="12700">
            <a:miter lim="400000"/>
          </a:ln>
          <a:effectLst>
            <a:outerShdw sx="100000" sy="100000" kx="0" ky="0" algn="b" rotWithShape="0" blurRad="0" dist="24130" dir="5400000">
              <a:srgbClr val="C9A227"/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" name="Text 10"/>
          <p:cNvSpPr txBox="1"/>
          <p:nvPr/>
        </p:nvSpPr>
        <p:spPr>
          <a:xfrm>
            <a:off x="11427134" y="6476999"/>
            <a:ext cx="15396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lnSpc>
                <a:spcPct val="125000"/>
              </a:lnSpc>
              <a:defRPr sz="10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06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THANK YOU"/>
          <p:cNvSpPr txBox="1"/>
          <p:nvPr>
            <p:ph type="body" idx="4294967295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algn="ctr">
              <a:buSzTx/>
              <a:buFontTx/>
              <a:buNone/>
              <a:defRPr sz="5100"/>
            </a:pPr>
          </a:p>
          <a:p>
            <a:pPr marL="0" indent="0" algn="ctr">
              <a:buSzTx/>
              <a:buFontTx/>
              <a:buNone/>
              <a:defRPr sz="5100"/>
            </a:pPr>
          </a:p>
          <a:p>
            <a:pPr marL="0" indent="0" algn="ctr">
              <a:buSzTx/>
              <a:buFontTx/>
              <a:buNone/>
              <a:defRPr sz="5100"/>
            </a:pPr>
            <a:r>
              <a:t>THANK YOU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E9E4D8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